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414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over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480560" y="0"/>
            <a:ext cx="4663440" cy="514350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548640" y="114300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3DDC9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EDA Y DATA STORYTELLING</a:t>
            </a:r>
            <a:endParaRPr lang="en-US" sz="1000" dirty="0"/>
          </a:p>
        </p:txBody>
      </p:sp>
      <p:sp>
        <p:nvSpPr>
          <p:cNvPr id="4" name="Text 1"/>
          <p:cNvSpPr txBox="1"/>
          <p:nvPr/>
        </p:nvSpPr>
        <p:spPr>
          <a:xfrm>
            <a:off x="548640" y="1600200"/>
            <a:ext cx="365760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E6F5F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¿Qué hace que una película guste más?</a:t>
            </a:r>
            <a:endParaRPr lang="en-US" sz="320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3429000"/>
            <a:ext cx="3566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8FB5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38,308 películas de Letterboxd: popularidad, duración y época frente al rating</a:t>
            </a:r>
            <a:endParaRPr lang="en-US" sz="14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452628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8FB5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 nombre · Curso · Fecha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414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E6F5F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El dataset y sus columnas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91440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8FB5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Catálogo de 38,308 títulos (7 columnas, sin nulos ni filas duplicadas). Rating: promedio de la comunidad, de 0.5 a 5.</a:t>
            </a:r>
            <a:endParaRPr lang="en-US" sz="1300" dirty="0"/>
          </a:p>
        </p:txBody>
      </p:sp>
      <p:graphicFrame>
        <p:nvGraphicFramePr>
          <p:cNvPr id="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508760"/>
          <a:ext cx="8229600" cy="914400"/>
        </p:xfrm>
        <a:graphic>
          <a:graphicData uri="http://schemas.openxmlformats.org/drawingml/2006/table">
            <a:tbl>
              <a:tblPr/>
              <a:tblGrid>
                <a:gridCol w="1920240"/>
                <a:gridCol w="1280160"/>
                <a:gridCol w="5029200"/>
              </a:tblGrid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0414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Columna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E46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46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46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46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DDC9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0414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Tipo en Python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E46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46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46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46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DDC9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0414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Qué es en realidad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E46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46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46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46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DDC97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3DDC9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id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E46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46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46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46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A3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E6F5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entero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E46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46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46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46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A3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E6F5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Ranking de popularidad (100001 = Barbie, Parasite…), no una cantidad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E46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46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46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46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A33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3DDC9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name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E46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46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46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46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8222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E6F5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texto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E46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46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46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46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8222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E6F5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Título; se repite por remakes y homónimos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E46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46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46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46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8222A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3DDC9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date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E46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46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46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46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A3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E6F5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entero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E46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46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46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46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A3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E6F5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Solo el año de estreno, no fecha completa (2024 incompleto)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E46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46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46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46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A33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3DDC9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tagline / description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E46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46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46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46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8222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E6F5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texto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E46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46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46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46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8222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E6F5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Eslogan y sinopsis, texto libre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E46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46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46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46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8222A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3DDC9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minute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E46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46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46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46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A3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E6F5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entero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E46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46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46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46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A3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E6F5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Duración continua: de 1 min a 2,250 min (incluye series y cortos)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E46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46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46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46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A33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3DDC9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rating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E46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46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46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46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8222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E6F5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decimal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E46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46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46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46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8222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E6F5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Promedio de muchos votos (0.88 a 4.69)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E46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46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46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46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8222A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 txBox="1"/>
          <p:nvPr/>
        </p:nvSpPr>
        <p:spPr>
          <a:xfrm>
            <a:off x="457200" y="443484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i="1" dirty="0">
                <a:solidFill>
                  <a:srgbClr val="3DDC9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Sorpresa: minute y id no significan lo que parece — hay series de TV como “películas” y el id es un ranking.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414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E6F5F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El proceso, en 4 pasos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457200" y="1188720"/>
            <a:ext cx="4023360" cy="1508760"/>
          </a:xfrm>
          <a:prstGeom prst="roundRect">
            <a:avLst>
              <a:gd name="adj" fmla="val 6061"/>
            </a:avLst>
          </a:prstGeom>
          <a:solidFill>
            <a:srgbClr val="0B2A33"/>
          </a:solidFill>
          <a:ln w="12700">
            <a:solidFill>
              <a:srgbClr val="0B2A33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85800" y="1417320"/>
            <a:ext cx="502920" cy="502920"/>
          </a:xfrm>
          <a:prstGeom prst="ellipse">
            <a:avLst/>
          </a:prstGeom>
          <a:solidFill>
            <a:srgbClr val="3DDC97"/>
          </a:solidFill>
          <a:ln w="12700">
            <a:solidFill>
              <a:srgbClr val="3DDC97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85800" y="14173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414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800" dirty="0"/>
          </a:p>
        </p:txBody>
      </p:sp>
      <p:sp>
        <p:nvSpPr>
          <p:cNvPr id="6" name="Text 4"/>
          <p:cNvSpPr txBox="1"/>
          <p:nvPr/>
        </p:nvSpPr>
        <p:spPr>
          <a:xfrm>
            <a:off x="1371600" y="1417320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E6F5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Cargar y entender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1371600" y="1828800"/>
            <a:ext cx="29260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8FB5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Revisar tipos, columnas y qué representa cada una.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663440" y="1188720"/>
            <a:ext cx="4023360" cy="1508760"/>
          </a:xfrm>
          <a:prstGeom prst="roundRect">
            <a:avLst>
              <a:gd name="adj" fmla="val 6061"/>
            </a:avLst>
          </a:prstGeom>
          <a:solidFill>
            <a:srgbClr val="0B2A33"/>
          </a:solidFill>
          <a:ln w="12700">
            <a:solidFill>
              <a:srgbClr val="0B2A33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892040" y="1417320"/>
            <a:ext cx="502920" cy="502920"/>
          </a:xfrm>
          <a:prstGeom prst="ellipse">
            <a:avLst/>
          </a:prstGeom>
          <a:solidFill>
            <a:srgbClr val="3DDC97"/>
          </a:solidFill>
          <a:ln w="12700">
            <a:solidFill>
              <a:srgbClr val="3DDC97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4892040" y="14173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414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800" dirty="0"/>
          </a:p>
        </p:txBody>
      </p:sp>
      <p:sp>
        <p:nvSpPr>
          <p:cNvPr id="11" name="Text 9"/>
          <p:cNvSpPr txBox="1"/>
          <p:nvPr/>
        </p:nvSpPr>
        <p:spPr>
          <a:xfrm>
            <a:off x="5577840" y="1417320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E6F5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Revisar calidad</a:t>
            </a:r>
            <a:endParaRPr lang="en-US" sz="1600" dirty="0"/>
          </a:p>
        </p:txBody>
      </p:sp>
      <p:sp>
        <p:nvSpPr>
          <p:cNvPr id="12" name="Text 10"/>
          <p:cNvSpPr txBox="1"/>
          <p:nvPr/>
        </p:nvSpPr>
        <p:spPr>
          <a:xfrm>
            <a:off x="5577840" y="1828800"/>
            <a:ext cx="29260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8FB5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Nulos (0), duplicados (0 exactos), títulos repetidos (remakes, se conservan), rangos extremos.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457200" y="2926080"/>
            <a:ext cx="4023360" cy="1508760"/>
          </a:xfrm>
          <a:prstGeom prst="roundRect">
            <a:avLst>
              <a:gd name="adj" fmla="val 6061"/>
            </a:avLst>
          </a:prstGeom>
          <a:solidFill>
            <a:srgbClr val="0B2A33"/>
          </a:solidFill>
          <a:ln w="12700">
            <a:solidFill>
              <a:srgbClr val="0B2A33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85800" y="3154680"/>
            <a:ext cx="502920" cy="502920"/>
          </a:xfrm>
          <a:prstGeom prst="ellipse">
            <a:avLst/>
          </a:prstGeom>
          <a:solidFill>
            <a:srgbClr val="3DDC97"/>
          </a:solidFill>
          <a:ln w="12700">
            <a:solidFill>
              <a:srgbClr val="3DDC97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685800" y="31546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414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800" dirty="0"/>
          </a:p>
        </p:txBody>
      </p:sp>
      <p:sp>
        <p:nvSpPr>
          <p:cNvPr id="16" name="Text 14"/>
          <p:cNvSpPr txBox="1"/>
          <p:nvPr/>
        </p:nvSpPr>
        <p:spPr>
          <a:xfrm>
            <a:off x="1371600" y="3154680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E6F5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Etiquetar, no borrar</a:t>
            </a:r>
            <a:endParaRPr lang="en-US" sz="1600" dirty="0"/>
          </a:p>
        </p:txBody>
      </p:sp>
      <p:sp>
        <p:nvSpPr>
          <p:cNvPr id="17" name="Text 15"/>
          <p:cNvSpPr txBox="1"/>
          <p:nvPr/>
        </p:nvSpPr>
        <p:spPr>
          <a:xfrm>
            <a:off x="1371600" y="3566160"/>
            <a:ext cx="29260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8FB5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Nuevas columnas: rank, década y tipo (corto, largometraje, posible serie). 2024 se excluye por incompleto.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4663440" y="2926080"/>
            <a:ext cx="4023360" cy="1508760"/>
          </a:xfrm>
          <a:prstGeom prst="roundRect">
            <a:avLst>
              <a:gd name="adj" fmla="val 6061"/>
            </a:avLst>
          </a:prstGeom>
          <a:solidFill>
            <a:srgbClr val="0B2A33"/>
          </a:solidFill>
          <a:ln w="12700">
            <a:solidFill>
              <a:srgbClr val="0B2A33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4892040" y="3154680"/>
            <a:ext cx="502920" cy="502920"/>
          </a:xfrm>
          <a:prstGeom prst="ellipse">
            <a:avLst/>
          </a:prstGeom>
          <a:solidFill>
            <a:srgbClr val="3DDC97"/>
          </a:solidFill>
          <a:ln w="12700">
            <a:solidFill>
              <a:srgbClr val="3DDC97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4892040" y="31546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414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800" dirty="0"/>
          </a:p>
        </p:txBody>
      </p:sp>
      <p:sp>
        <p:nvSpPr>
          <p:cNvPr id="21" name="Text 19"/>
          <p:cNvSpPr txBox="1"/>
          <p:nvPr/>
        </p:nvSpPr>
        <p:spPr>
          <a:xfrm>
            <a:off x="5577840" y="3154680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E6F5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Agrupar y graficar</a:t>
            </a:r>
            <a:endParaRPr lang="en-US" sz="1600" dirty="0"/>
          </a:p>
        </p:txBody>
      </p:sp>
      <p:sp>
        <p:nvSpPr>
          <p:cNvPr id="22" name="Text 20"/>
          <p:cNvSpPr txBox="1"/>
          <p:nvPr/>
        </p:nvSpPr>
        <p:spPr>
          <a:xfrm>
            <a:off x="5577840" y="3566160"/>
            <a:ext cx="29260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8FB5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groupby por ranking, duración y década; un gráfico por pregunta.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414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E6F5F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Antes de los insights: la duración</a:t>
            </a:r>
            <a:endParaRPr lang="en-US" sz="2600" dirty="0"/>
          </a:p>
        </p:txBody>
      </p:sp>
      <p:pic>
        <p:nvPicPr>
          <p:cNvPr id="3" name="Image 0" descr="/mnt/user-data/outputs/graficos/00_distribucion_duracio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188720"/>
            <a:ext cx="5669280" cy="1805612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6400800" y="118872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3DDC9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DISTRIBUCIÓN DE LA DURACIÓN</a:t>
            </a:r>
            <a:endParaRPr lang="en-US" sz="1000" dirty="0"/>
          </a:p>
        </p:txBody>
      </p:sp>
      <p:sp>
        <p:nvSpPr>
          <p:cNvPr id="5" name="Text 2"/>
          <p:cNvSpPr txBox="1"/>
          <p:nvPr/>
        </p:nvSpPr>
        <p:spPr>
          <a:xfrm>
            <a:off x="6400800" y="1783080"/>
            <a:ext cx="228600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E6F5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 filtrar, unos pocos extremos (1 min y hasta 37 h) aplastan la gráfica. Al quedarnos con 40–239 min, la duración típica es ~96 min.</a:t>
            </a:r>
            <a:endParaRPr lang="en-US" sz="1200" dirty="0"/>
          </a:p>
        </p:txBody>
      </p:sp>
      <p:sp>
        <p:nvSpPr>
          <p:cNvPr id="6" name="Shape 3"/>
          <p:cNvSpPr/>
          <p:nvPr/>
        </p:nvSpPr>
        <p:spPr>
          <a:xfrm>
            <a:off x="457200" y="3520440"/>
            <a:ext cx="5669280" cy="1005840"/>
          </a:xfrm>
          <a:prstGeom prst="roundRect">
            <a:avLst>
              <a:gd name="adj" fmla="val 9091"/>
            </a:avLst>
          </a:prstGeom>
          <a:solidFill>
            <a:srgbClr val="0B2A33"/>
          </a:solidFill>
          <a:ln w="12700">
            <a:solidFill>
              <a:srgbClr val="0B2A33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640080" y="3639312"/>
            <a:ext cx="5303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3DDC9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¿Y qué?</a:t>
            </a:r>
            <a:endParaRPr lang="en-US" sz="1200" dirty="0"/>
          </a:p>
        </p:txBody>
      </p:sp>
      <p:sp>
        <p:nvSpPr>
          <p:cNvPr id="8" name="Text 5"/>
          <p:cNvSpPr txBox="1"/>
          <p:nvPr/>
        </p:nvSpPr>
        <p:spPr>
          <a:xfrm>
            <a:off x="640080" y="3931920"/>
            <a:ext cx="5303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E6F5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Hay que separar cortos, largometrajes y series antes de comparar.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414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E6F5F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Insight 1: lo popular se califica mejor</a:t>
            </a:r>
            <a:endParaRPr lang="en-US" sz="2600" dirty="0"/>
          </a:p>
        </p:txBody>
      </p:sp>
      <p:pic>
        <p:nvPicPr>
          <p:cNvPr id="3" name="Image 0" descr="/mnt/user-data/outputs/graficos/01_rating_por_ranking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443150"/>
            <a:ext cx="5029200" cy="2782980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5760720" y="1051560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3DDC9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RATING PROMEDIO POR BLOQUE DEL RANKING</a:t>
            </a:r>
            <a:endParaRPr lang="en-US" sz="1000" dirty="0"/>
          </a:p>
        </p:txBody>
      </p:sp>
      <p:sp>
        <p:nvSpPr>
          <p:cNvPr id="5" name="Text 2"/>
          <p:cNvSpPr txBox="1"/>
          <p:nvPr/>
        </p:nvSpPr>
        <p:spPr>
          <a:xfrm>
            <a:off x="5760720" y="1691640"/>
            <a:ext cx="29260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E6F5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top 1,000 promedia 3.66 contra 3.13 del resto (+0.53 estrellas). La relación es moderada (Spearman ≈ −0.16).</a:t>
            </a:r>
            <a:endParaRPr lang="en-US" sz="1300" dirty="0"/>
          </a:p>
        </p:txBody>
      </p:sp>
      <p:sp>
        <p:nvSpPr>
          <p:cNvPr id="6" name="Shape 3"/>
          <p:cNvSpPr/>
          <p:nvPr/>
        </p:nvSpPr>
        <p:spPr>
          <a:xfrm>
            <a:off x="5760720" y="3154680"/>
            <a:ext cx="2926080" cy="1371600"/>
          </a:xfrm>
          <a:prstGeom prst="roundRect">
            <a:avLst>
              <a:gd name="adj" fmla="val 6667"/>
            </a:avLst>
          </a:prstGeom>
          <a:solidFill>
            <a:srgbClr val="0B2A33"/>
          </a:solidFill>
          <a:ln w="12700">
            <a:solidFill>
              <a:srgbClr val="0B2A33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5943600" y="3291840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3DDC9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¿Y qué?</a:t>
            </a:r>
            <a:endParaRPr lang="en-US" sz="1200" dirty="0"/>
          </a:p>
        </p:txBody>
      </p:sp>
      <p:sp>
        <p:nvSpPr>
          <p:cNvPr id="8" name="Text 5"/>
          <p:cNvSpPr txBox="1"/>
          <p:nvPr/>
        </p:nvSpPr>
        <p:spPr>
          <a:xfrm>
            <a:off x="5943600" y="3611880"/>
            <a:ext cx="25603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E6F5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rating de una película poco vista es más ruidoso y menos informativo.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414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E6F5F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Insight 2: la duración “muerta” es 81–100 min</a:t>
            </a:r>
            <a:endParaRPr lang="en-US" sz="2600" dirty="0"/>
          </a:p>
        </p:txBody>
      </p:sp>
      <p:pic>
        <p:nvPicPr>
          <p:cNvPr id="3" name="Image 0" descr="/mnt/user-data/outputs/graficos/02_rating_por_duracio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600623"/>
            <a:ext cx="5029200" cy="2468033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5760720" y="1051560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3DDC9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RATING PROMEDIO POR RANGO DE DURACIÓN</a:t>
            </a:r>
            <a:endParaRPr lang="en-US" sz="1000" dirty="0"/>
          </a:p>
        </p:txBody>
      </p:sp>
      <p:sp>
        <p:nvSpPr>
          <p:cNvPr id="5" name="Text 2"/>
          <p:cNvSpPr txBox="1"/>
          <p:nvPr/>
        </p:nvSpPr>
        <p:spPr>
          <a:xfrm>
            <a:off x="5760720" y="1691640"/>
            <a:ext cx="29260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E6F5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46% del catálogo cae en 81–100 min y tiene el peor rating (3.02). Sobre 180 min sube a 3.6–3.7.</a:t>
            </a:r>
            <a:endParaRPr lang="en-US" sz="1300" dirty="0"/>
          </a:p>
        </p:txBody>
      </p:sp>
      <p:sp>
        <p:nvSpPr>
          <p:cNvPr id="6" name="Shape 3"/>
          <p:cNvSpPr/>
          <p:nvPr/>
        </p:nvSpPr>
        <p:spPr>
          <a:xfrm>
            <a:off x="5760720" y="3154680"/>
            <a:ext cx="2926080" cy="1371600"/>
          </a:xfrm>
          <a:prstGeom prst="roundRect">
            <a:avLst>
              <a:gd name="adj" fmla="val 6667"/>
            </a:avLst>
          </a:prstGeom>
          <a:solidFill>
            <a:srgbClr val="0B2A33"/>
          </a:solidFill>
          <a:ln w="12700">
            <a:solidFill>
              <a:srgbClr val="0B2A33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5943600" y="3291840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3DDC9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¿Y qué?</a:t>
            </a:r>
            <a:endParaRPr lang="en-US" sz="1200" dirty="0"/>
          </a:p>
        </p:txBody>
      </p:sp>
      <p:sp>
        <p:nvSpPr>
          <p:cNvPr id="8" name="Text 5"/>
          <p:cNvSpPr txBox="1"/>
          <p:nvPr/>
        </p:nvSpPr>
        <p:spPr>
          <a:xfrm>
            <a:off x="5943600" y="3611880"/>
            <a:ext cx="25603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E6F5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Alargar no mejora una película, pero las producciones ambiciosas suelen ser largas.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414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E6F5F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Insight 3: el cine viejo parece mejor</a:t>
            </a:r>
            <a:endParaRPr lang="en-US" sz="2600" dirty="0"/>
          </a:p>
        </p:txBody>
      </p:sp>
      <p:pic>
        <p:nvPicPr>
          <p:cNvPr id="3" name="Image 0" descr="/mnt/user-data/outputs/graficos/03_rating_por_decada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726078"/>
            <a:ext cx="5029200" cy="2217124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5760720" y="1051560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3DDC9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TÍTULOS Y RATING PROMEDIO POR DÉCADA</a:t>
            </a:r>
            <a:endParaRPr lang="en-US" sz="1000" dirty="0"/>
          </a:p>
        </p:txBody>
      </p:sp>
      <p:sp>
        <p:nvSpPr>
          <p:cNvPr id="5" name="Text 2"/>
          <p:cNvSpPr txBox="1"/>
          <p:nvPr/>
        </p:nvSpPr>
        <p:spPr>
          <a:xfrm>
            <a:off x="5760720" y="1691640"/>
            <a:ext cx="29260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E6F5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Años 20: 3.46 con 226 películas. Años 2010: 3.06 con 11,034. Menos películas antiguas, mejor calificadas.</a:t>
            </a:r>
            <a:endParaRPr lang="en-US" sz="1300" dirty="0"/>
          </a:p>
        </p:txBody>
      </p:sp>
      <p:sp>
        <p:nvSpPr>
          <p:cNvPr id="6" name="Shape 3"/>
          <p:cNvSpPr/>
          <p:nvPr/>
        </p:nvSpPr>
        <p:spPr>
          <a:xfrm>
            <a:off x="5760720" y="3154680"/>
            <a:ext cx="2926080" cy="1371600"/>
          </a:xfrm>
          <a:prstGeom prst="roundRect">
            <a:avLst>
              <a:gd name="adj" fmla="val 6667"/>
            </a:avLst>
          </a:prstGeom>
          <a:solidFill>
            <a:srgbClr val="0B2A33"/>
          </a:solidFill>
          <a:ln w="12700">
            <a:solidFill>
              <a:srgbClr val="0B2A33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5943600" y="3291840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3DDC9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¿Y qué?</a:t>
            </a:r>
            <a:endParaRPr lang="en-US" sz="1200" dirty="0"/>
          </a:p>
        </p:txBody>
      </p:sp>
      <p:sp>
        <p:nvSpPr>
          <p:cNvPr id="8" name="Text 5"/>
          <p:cNvSpPr txBox="1"/>
          <p:nvPr/>
        </p:nvSpPr>
        <p:spPr>
          <a:xfrm>
            <a:off x="5943600" y="3611880"/>
            <a:ext cx="25603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E6F5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Probable sesgo de supervivencia: solo se conserva lo que ya se considera bueno.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414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E6F5F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Insight 4: las series se cuelan y crecen</a:t>
            </a:r>
            <a:endParaRPr lang="en-US" sz="2600" dirty="0"/>
          </a:p>
        </p:txBody>
      </p:sp>
      <p:pic>
        <p:nvPicPr>
          <p:cNvPr id="3" name="Image 0" descr="/mnt/user-data/outputs/graficos/04_series_por_decada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443150"/>
            <a:ext cx="5029200" cy="2782980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5760720" y="1051560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3DDC9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TÍTULOS DE 240+ MIN POR DÉCADA</a:t>
            </a:r>
            <a:endParaRPr lang="en-US" sz="1000" dirty="0"/>
          </a:p>
        </p:txBody>
      </p:sp>
      <p:sp>
        <p:nvSpPr>
          <p:cNvPr id="5" name="Text 2"/>
          <p:cNvSpPr txBox="1"/>
          <p:nvPr/>
        </p:nvSpPr>
        <p:spPr>
          <a:xfrm>
            <a:off x="5760720" y="1691640"/>
            <a:ext cx="29260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E6F5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20 en los 90 a 176 en los 2010 y 365 en 2020–2023 (Squid Game, Chernobyl). Promedian 3.68 vs 3.13.</a:t>
            </a:r>
            <a:endParaRPr lang="en-US" sz="1300" dirty="0"/>
          </a:p>
        </p:txBody>
      </p:sp>
      <p:sp>
        <p:nvSpPr>
          <p:cNvPr id="6" name="Shape 3"/>
          <p:cNvSpPr/>
          <p:nvPr/>
        </p:nvSpPr>
        <p:spPr>
          <a:xfrm>
            <a:off x="5760720" y="3154680"/>
            <a:ext cx="2926080" cy="1371600"/>
          </a:xfrm>
          <a:prstGeom prst="roundRect">
            <a:avLst>
              <a:gd name="adj" fmla="val 6667"/>
            </a:avLst>
          </a:prstGeom>
          <a:solidFill>
            <a:srgbClr val="0B2A33"/>
          </a:solidFill>
          <a:ln w="12700">
            <a:solidFill>
              <a:srgbClr val="0B2A33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5943600" y="3291840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3DDC9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¿Y qué?</a:t>
            </a:r>
            <a:endParaRPr lang="en-US" sz="1200" dirty="0"/>
          </a:p>
        </p:txBody>
      </p:sp>
      <p:sp>
        <p:nvSpPr>
          <p:cNvPr id="8" name="Text 5"/>
          <p:cNvSpPr txBox="1"/>
          <p:nvPr/>
        </p:nvSpPr>
        <p:spPr>
          <a:xfrm>
            <a:off x="5943600" y="3611880"/>
            <a:ext cx="25603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E6F5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Analizar “duración de películas” sin filtrar mide series; se ve el auge del streaming.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414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losing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4023360" cy="514350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4480560" y="548640"/>
            <a:ext cx="4206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3DDC9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CONCLUSIÓN</a:t>
            </a:r>
            <a:endParaRPr lang="en-US" sz="1000" dirty="0"/>
          </a:p>
        </p:txBody>
      </p:sp>
      <p:sp>
        <p:nvSpPr>
          <p:cNvPr id="4" name="Text 1"/>
          <p:cNvSpPr txBox="1"/>
          <p:nvPr/>
        </p:nvSpPr>
        <p:spPr>
          <a:xfrm>
            <a:off x="4480560" y="868680"/>
            <a:ext cx="4206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E6F5F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Entender los datos antes de graficarlos</a:t>
            </a:r>
            <a:endParaRPr lang="en-US" sz="2600" dirty="0"/>
          </a:p>
        </p:txBody>
      </p:sp>
      <p:sp>
        <p:nvSpPr>
          <p:cNvPr id="5" name="Shape 2"/>
          <p:cNvSpPr/>
          <p:nvPr/>
        </p:nvSpPr>
        <p:spPr>
          <a:xfrm>
            <a:off x="4480560" y="1920240"/>
            <a:ext cx="201168" cy="201168"/>
          </a:xfrm>
          <a:prstGeom prst="ellipse">
            <a:avLst/>
          </a:prstGeom>
          <a:solidFill>
            <a:srgbClr val="3DDC97"/>
          </a:solidFill>
          <a:ln w="12700">
            <a:solidFill>
              <a:srgbClr val="3DDC97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4846320" y="1874520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E6F5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dataset no es solo “películas”</a:t>
            </a:r>
            <a:endParaRPr lang="en-US" sz="1400" dirty="0"/>
          </a:p>
        </p:txBody>
      </p:sp>
      <p:sp>
        <p:nvSpPr>
          <p:cNvPr id="7" name="Text 4"/>
          <p:cNvSpPr txBox="1"/>
          <p:nvPr/>
        </p:nvSpPr>
        <p:spPr>
          <a:xfrm>
            <a:off x="4846320" y="2167128"/>
            <a:ext cx="3840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8FB5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Incluye series y cortos, y su id es en realidad un ranking.</a:t>
            </a:r>
            <a:endParaRPr lang="en-US" sz="1150" dirty="0"/>
          </a:p>
        </p:txBody>
      </p:sp>
      <p:sp>
        <p:nvSpPr>
          <p:cNvPr id="8" name="Shape 5"/>
          <p:cNvSpPr/>
          <p:nvPr/>
        </p:nvSpPr>
        <p:spPr>
          <a:xfrm>
            <a:off x="4480560" y="2788920"/>
            <a:ext cx="201168" cy="201168"/>
          </a:xfrm>
          <a:prstGeom prst="ellipse">
            <a:avLst/>
          </a:prstGeom>
          <a:solidFill>
            <a:srgbClr val="3DDC97"/>
          </a:solidFill>
          <a:ln w="12700">
            <a:solidFill>
              <a:srgbClr val="3DDC97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4846320" y="2743200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E6F5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Ninguna relación es simple</a:t>
            </a:r>
            <a:endParaRPr lang="en-US" sz="1400" dirty="0"/>
          </a:p>
        </p:txBody>
      </p:sp>
      <p:sp>
        <p:nvSpPr>
          <p:cNvPr id="10" name="Text 7"/>
          <p:cNvSpPr txBox="1"/>
          <p:nvPr/>
        </p:nvSpPr>
        <p:spPr>
          <a:xfrm>
            <a:off x="4846320" y="3035808"/>
            <a:ext cx="3840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8FB5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Popularidad, duración y época se relacionan con el rating, pero con sesgos de selección y supervivencia.</a:t>
            </a:r>
            <a:endParaRPr lang="en-US" sz="1150" dirty="0"/>
          </a:p>
        </p:txBody>
      </p:sp>
      <p:sp>
        <p:nvSpPr>
          <p:cNvPr id="11" name="Shape 8"/>
          <p:cNvSpPr/>
          <p:nvPr/>
        </p:nvSpPr>
        <p:spPr>
          <a:xfrm>
            <a:off x="4480560" y="3657600"/>
            <a:ext cx="201168" cy="201168"/>
          </a:xfrm>
          <a:prstGeom prst="ellipse">
            <a:avLst/>
          </a:prstGeom>
          <a:solidFill>
            <a:srgbClr val="3DDC97"/>
          </a:solidFill>
          <a:ln w="12700">
            <a:solidFill>
              <a:srgbClr val="3DDC97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4846320" y="3611880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E6F5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 más valioso</a:t>
            </a:r>
            <a:endParaRPr lang="en-US" sz="1400" dirty="0"/>
          </a:p>
        </p:txBody>
      </p:sp>
      <p:sp>
        <p:nvSpPr>
          <p:cNvPr id="13" name="Text 10"/>
          <p:cNvSpPr txBox="1"/>
          <p:nvPr/>
        </p:nvSpPr>
        <p:spPr>
          <a:xfrm>
            <a:off x="4846320" y="3904488"/>
            <a:ext cx="3840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8FB5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Saber qué representa cada columna: sin eso, los gráficos engañan.</a:t>
            </a:r>
            <a:endParaRPr lang="en-US" sz="1150" dirty="0"/>
          </a:p>
        </p:txBody>
      </p:sp>
      <p:sp>
        <p:nvSpPr>
          <p:cNvPr id="14" name="Text 11"/>
          <p:cNvSpPr txBox="1"/>
          <p:nvPr/>
        </p:nvSpPr>
        <p:spPr>
          <a:xfrm>
            <a:off x="4480560" y="4526280"/>
            <a:ext cx="4206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i="1" dirty="0">
                <a:solidFill>
                  <a:srgbClr val="3DDC9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¿Preguntas?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2026-09-28T02:27:27Z</dcterms:created>
  <dcterms:modified xsi:type="dcterms:W3CDTF">2026-09-28T02:27:27Z</dcterms:modified>
</cp:coreProperties>
</file>